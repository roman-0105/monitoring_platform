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54864" cy="54864"/>
          </a:xfrm>
          <a:prstGeom prst="ellipse">
            <a:avLst/>
          </a:prstGeom>
          <a:solidFill>
            <a:srgbClr val="F9C94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960120"/>
            <a:ext cx="54864" cy="54864"/>
          </a:xfrm>
          <a:prstGeom prst="ellipse">
            <a:avLst/>
          </a:prstGeom>
          <a:solidFill>
            <a:srgbClr val="F9C940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097280"/>
            <a:ext cx="54864" cy="54864"/>
          </a:xfrm>
          <a:prstGeom prst="ellipse">
            <a:avLst/>
          </a:prstGeom>
          <a:solidFill>
            <a:srgbClr val="F9C9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РАЗРАБОТКИ  ·  ПОРТФОЛИО ПЛАТФОРМ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промышленного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мониторинга и контроля рисков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  +  Фиксация рисков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480060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328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Гидрогеологический мониторинг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48006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328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4800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Фиксация рисков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92640" y="4206240"/>
            <a:ext cx="1920240" cy="1920240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4709160"/>
            <a:ext cx="914400" cy="914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возможностей платформ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бумаги к единой цифровой платформе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проблема, с которой начинались обе разработки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78728" y="1444752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5410048" cy="777240"/>
          </a:xfrm>
          <a:prstGeom prst="roundRect">
            <a:avLst>
              <a:gd name="adj" fmla="val 8235"/>
            </a:avLst>
          </a:prstGeom>
          <a:solidFill>
            <a:srgbClr val="132840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865376"/>
            <a:ext cx="508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Бумажные журналы и разрозненные Excel-файлы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8728" y="1865376"/>
            <a:ext cx="5410048" cy="777240"/>
          </a:xfrm>
          <a:prstGeom prst="roundRect">
            <a:avLst>
              <a:gd name="adj" fmla="val 8235"/>
            </a:avLst>
          </a:prstGeom>
          <a:solidFill>
            <a:srgbClr val="1A2F45"/>
          </a:solidFill>
          <a:ln w="9525">
            <a:solidFill>
              <a:srgbClr val="F9C9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3320" y="1865376"/>
            <a:ext cx="508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Единая база данных для всей службы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770632"/>
            <a:ext cx="5410048" cy="777240"/>
          </a:xfrm>
          <a:prstGeom prst="roundRect">
            <a:avLst>
              <a:gd name="adj" fmla="val 8235"/>
            </a:avLst>
          </a:prstGeom>
          <a:solidFill>
            <a:srgbClr val="132840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770632"/>
            <a:ext cx="508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Ручной перенос данных, ошибки при переписывании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2770632"/>
            <a:ext cx="5410048" cy="777240"/>
          </a:xfrm>
          <a:prstGeom prst="roundRect">
            <a:avLst>
              <a:gd name="adj" fmla="val 8235"/>
            </a:avLst>
          </a:prstGeom>
          <a:solidFill>
            <a:srgbClr val="1A2F45"/>
          </a:solidFill>
          <a:ln w="9525">
            <a:solidFill>
              <a:srgbClr val="F9C9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3320" y="2770632"/>
            <a:ext cx="508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Данные вносятся один раз — сразу в систему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675888"/>
            <a:ext cx="5410048" cy="777240"/>
          </a:xfrm>
          <a:prstGeom prst="roundRect">
            <a:avLst>
              <a:gd name="adj" fmla="val 8235"/>
            </a:avLst>
          </a:prstGeom>
          <a:solidFill>
            <a:srgbClr val="132840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675888"/>
            <a:ext cx="508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Нет привязки к актуальной карте объекта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78728" y="3675888"/>
            <a:ext cx="5410048" cy="777240"/>
          </a:xfrm>
          <a:prstGeom prst="roundRect">
            <a:avLst>
              <a:gd name="adj" fmla="val 8235"/>
            </a:avLst>
          </a:prstGeom>
          <a:solidFill>
            <a:srgbClr val="1A2F45"/>
          </a:solidFill>
          <a:ln w="9525">
            <a:solidFill>
              <a:srgbClr val="F9C9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3320" y="3675888"/>
            <a:ext cx="508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Координаты и карта — часть каждой записи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581144"/>
            <a:ext cx="5410048" cy="777240"/>
          </a:xfrm>
          <a:prstGeom prst="roundRect">
            <a:avLst>
              <a:gd name="adj" fmla="val 8235"/>
            </a:avLst>
          </a:prstGeom>
          <a:solidFill>
            <a:srgbClr val="132840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4581144"/>
            <a:ext cx="508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Руководство не имеет оперативного доступа к данным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78728" y="4581144"/>
            <a:ext cx="5410048" cy="777240"/>
          </a:xfrm>
          <a:prstGeom prst="roundRect">
            <a:avLst>
              <a:gd name="adj" fmla="val 8235"/>
            </a:avLst>
          </a:prstGeom>
          <a:solidFill>
            <a:srgbClr val="1A2F45"/>
          </a:solidFill>
          <a:ln w="9525">
            <a:solidFill>
              <a:srgbClr val="F9C9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3320" y="4581144"/>
            <a:ext cx="508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Отчёты и карта доступны в любой момент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5486400"/>
            <a:ext cx="5410048" cy="777240"/>
          </a:xfrm>
          <a:prstGeom prst="roundRect">
            <a:avLst>
              <a:gd name="adj" fmla="val 8235"/>
            </a:avLst>
          </a:prstGeom>
          <a:solidFill>
            <a:srgbClr val="132840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5486400"/>
            <a:ext cx="508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Нет инструмента контроля полноты работ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78728" y="5486400"/>
            <a:ext cx="5410048" cy="777240"/>
          </a:xfrm>
          <a:prstGeom prst="roundRect">
            <a:avLst>
              <a:gd name="adj" fmla="val 8235"/>
            </a:avLst>
          </a:prstGeom>
          <a:solidFill>
            <a:srgbClr val="1A2F45"/>
          </a:solidFill>
          <a:ln w="9525">
            <a:solidFill>
              <a:srgbClr val="F9C9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3320" y="5486400"/>
            <a:ext cx="508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Прогресс и статусы видны в реальном времени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ПРОДУКТЫ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платформы, единая философия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задачи — общий подход: карта объекта, единая база данных, простота эксплуатации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65960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441448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2734056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Скважины, точки наблюдения, канавы, водоотлив, пылеподавление, аналитика и ИИ-отчёты. Проверено в промышленной эксплуатации на реальном производственном объекте.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23864" y="1783080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5032" y="1965960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41" y="2042770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25032" y="2441448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рисков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25032" y="2734056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обращений по рискам на объектах, карта, справочники и отчёты. Готовая протестированная модель, контракт для подключения к боевой базе данных полностью специфицирован.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3593592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4088" y="3776472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3853282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" y="4251960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геооснова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04088" y="4544568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координаты разломов и геологических доменов (437 линий, 5 доменов) переносятся между продуктами без расхождений — общая геологическая модель объекта.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23864" y="3593592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5032" y="3776472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841" y="3853282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25032" y="4251960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визуальный язык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25032" y="4544568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дизайн-стиль, принцип калибровки схем по 2 точкам, одинаковая логика фильтров и справочников — переход между продуктами интуитивен.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48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548640" y="3520440"/>
            <a:ext cx="118872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11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для гидрогеологической службы горнодобывающего предприятия — проверена в промышленной эксплуатации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235440" y="2331720"/>
            <a:ext cx="2194560" cy="219456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92608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 и архитектура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 без установки — открывается в браузере на любом устройстве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5623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73936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база данных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95528" y="204825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точки, скважины, канавы, водоотлив, пылеподавление и пользователи — в одной базе (Postgres), доступной с любого авторизованного устройства.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432304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и доступ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270662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email/паролю, роли «администратор» и «пользователь», управление доступом защищено на уровне базы данных (Row-Level Security).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7296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090672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как обычный сайт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95528" y="336499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Статическое приложение без сборки и установки — открыть можно с компьютера, планшета или телефона.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3133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74904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синхронизация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5528" y="402336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Настраиваемый интервал (от 15 секунд до 10 минут) плюс синхронизация при восстановлении сети и ручная кнопка.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828800"/>
            <a:ext cx="4373575" cy="4526280"/>
          </a:xfrm>
          <a:prstGeom prst="roundRect">
            <a:avLst>
              <a:gd name="adj" fmla="val 2091"/>
            </a:avLst>
          </a:prstGeom>
          <a:solidFill>
            <a:srgbClr val="132840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2029968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МОДУЛЕЙ В ПЛАТФОРМЕ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43800" y="2606040"/>
            <a:ext cx="391637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543800" y="3693262"/>
            <a:ext cx="3916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рабочих разделов: карта, точки, канавы, скважины, водоотлив, пылеподавление, аналитика, отчёты, настройки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43800" y="4480560"/>
            <a:ext cx="391637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43800" y="5567782"/>
            <a:ext cx="3916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JS-модулей кодовой базы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мониторинга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 схема объекта с точками, канавами и слоями геологии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 — и точка на карте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точки или канавы кликом по схеме, координаты подставляются автоматически.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16882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8050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042770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8050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режима раскраски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18050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по статусу, по интенсивности притока, комбинированный — переключаются легендой.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0845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2013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2" y="2042770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2013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интереса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32013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Оверлей замеров прошлого обхода с индикатором прогресса — ускоряет полевой обход.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4088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3853282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Гибкие фильтры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04088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дате, сотруднику, статусу, борту, домену, горизонту — единый набор для карты и аналитики.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16882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18050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853282"/>
            <a:ext cx="230429" cy="23042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18050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координаты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18050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с телефона автоматически пересчитывается в местную систему координат схемы.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0845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2013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822" y="3853282"/>
            <a:ext cx="230429" cy="23042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2013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Плавная навигация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32013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Зум и панорамирование с анимацией, всплывающие карточки точек и канав по клику.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Геология и тепловая карта притоков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геологические данные месторождения — не условная схема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5623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73936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Разломы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95528" y="204825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 линий, 1380 точек — фактическая геология объекта, только просмотр слоя.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432304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270662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геологических доменов (Domen-1…5) с заливкой и подписями, координаты из проектной документации.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7296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090672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Тепловая карта дебита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95528" y="336499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режима (по дебиту / статусу / горизонту), регулируемые радиус, яркость и чувствительность шкалы.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3133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74904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фундамент для двух продуктов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5528" y="402336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же координаты один в один используются во втором продукте — общая геологическая модель объекта.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828800"/>
            <a:ext cx="4373575" cy="4526280"/>
          </a:xfrm>
          <a:prstGeom prst="roundRect">
            <a:avLst>
              <a:gd name="adj" fmla="val 2091"/>
            </a:avLst>
          </a:prstGeom>
          <a:solidFill>
            <a:srgbClr val="132840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2029968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ГЕОМОДЕЛИ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43800" y="2606040"/>
            <a:ext cx="391637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543800" y="3693262"/>
            <a:ext cx="3916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линий разломов на карте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43800" y="4480560"/>
            <a:ext cx="391637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43800" y="5567782"/>
            <a:ext cx="3916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доменов · 8 бортов объекта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точек наблюдения и обходов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полевого замера до архива истории по каждой точке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карточка замера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Дебит (л/с с автопересчётом в м³/ч), цвет воды, интенсивность, метод измерения, борт, горизонт, домен.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16882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8050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042770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8050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статусов точки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18050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Новая, Активная, Иссякает, Пересохла, Паводковая, Перелив — отдельная категория для сильного паводка.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0845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2013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2" y="2042770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2013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Фотофиксация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32013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с камеры или галереи, автосжатие, галерея с полноэкранным просмотром по каждой точке.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4088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3853282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без перезаписи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04088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замер — новая запись; полная история и график дебита по номеру точки сохраняются всегда.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16882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18050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853282"/>
            <a:ext cx="230429" cy="23042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18050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сотрудников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18050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выбор исполнителя из справочника вместо ручного ввода имени при каждом замере.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0845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2013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822" y="3853282"/>
            <a:ext cx="230429" cy="23042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2013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Печать карточки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32013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верстка A4 с историей замеров — печать или сохранение в PDF в один клик.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Дренажные канавы: инженерный расчёт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просто учёт — встроенный калькулятор гидравлики потока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5623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73936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метода определения скорости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95528" y="204825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ввод, метод точек по ГОСТ 8.486-83, поплавочный метод (Наставление, вып. 6) с автобраковкой при отклонении &gt;15%, формула Маннинга.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432304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сечения и расхода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270662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нескольким промерам глубины: площадь, смоченный периметр, итоговый расход.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7296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090672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3D-визуализация потока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95528" y="336499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канавы, стрелки скорости течения по глубине, вращение камеры, подписи размеров.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3133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74904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статус «Заилилась»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5528" y="402336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Специфичная для канав категория состояния — не смешивается со статусами точек наблюдения.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828800"/>
            <a:ext cx="4373575" cy="4526280"/>
          </a:xfrm>
          <a:prstGeom prst="roundRect">
            <a:avLst>
              <a:gd name="adj" fmla="val 2091"/>
            </a:avLst>
          </a:prstGeom>
          <a:solidFill>
            <a:srgbClr val="132840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2029968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43800" y="2606040"/>
            <a:ext cx="391637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543800" y="3693262"/>
            <a:ext cx="3916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метода расчёта скорости потока по нормативам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43800" y="4480560"/>
            <a:ext cx="391637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43800" y="5567782"/>
            <a:ext cx="3916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сечения и течения (Three.js)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Горизонтальные скважины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Паспорт, карта и аналитика дренажных и пьезометрических скважин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паспорт скважины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(дренажная / пьезометрическая VWP), глубина, азимут, угол наклона, диаметр, дата бурения, обсадка.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16882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8050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042770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8050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карта скважин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18050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Кластеризация, азимут-лучи, статус цветом, подложка — схема объекта или PDF.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0845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2013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2" y="2042770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2013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Авторасчёт координат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32013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Широта/долгота вычисляются автоматически из локальных X/Y при вводе — без ручной конвертации.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4088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3853282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Еженедельная аналитика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04088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 по суммарному дебиту, рейтинг скважин, интерактивный выбор диапазона дат.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16882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18050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853282"/>
            <a:ext cx="230429" cy="23042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18050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PDF-отчёт по скважинам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18050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выгрузка с «умной» пагинацией — без пустых страниц и обрезанных таблиц.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0845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2013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822" y="3853282"/>
            <a:ext cx="230429" cy="23042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2013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в Excel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32013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листа: скважины, замеры, сводка — готово для дальнейшего анализа.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водоотлива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Зумпфы, насосы, расходомеры и уровни воды на интерактивной схеме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6" name="Shape 4"/>
          <p:cNvSpPr/>
          <p:nvPr/>
        </p:nvSpPr>
        <p:spPr>
          <a:xfrm>
            <a:off x="1321582" y="235000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321582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по зумпфам и насосам, статус заполнения журнала на сегодня, интерактивная P&amp;ID-схема водоотлива.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79157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80325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12" name="Shape 10"/>
          <p:cNvSpPr/>
          <p:nvPr/>
        </p:nvSpPr>
        <p:spPr>
          <a:xfrm>
            <a:off x="3598987" y="235000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3598987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17485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Зумпфы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17485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насосов и точек сброса, распределение откачки между точками в процентах.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56561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57729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18" name="Shape 16"/>
          <p:cNvSpPr/>
          <p:nvPr/>
        </p:nvSpPr>
        <p:spPr>
          <a:xfrm>
            <a:off x="5876392" y="235000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5876392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94889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Расходомеры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94889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ввод показаний по дням, авторасчёт объёма из показаний счётчика.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3966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35134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24" name="Shape 22"/>
          <p:cNvSpPr/>
          <p:nvPr/>
        </p:nvSpPr>
        <p:spPr>
          <a:xfrm>
            <a:off x="8153796" y="235000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8153796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72294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 воды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72294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Замеры зеркала воды по зумпфам с историей и графиком.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11371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12539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31201" y="235000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10431201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49699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749699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и разбивка по точкам сброса, насосам и зумпфам.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89204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1A2F45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89204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водоотлива — перетаскиваемые узлы, анимация течения по трубам, полноэкранный режим и авторазметка.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пылеподавления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орошения дорог и общий источник воды с водоотливом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441448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по дням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2734056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Организация, машина, гусак орошения, число рейсов → объём (по вместимости машины или вручную).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23864" y="1783080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5032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41" y="2042770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25032" y="2441448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Организации и техника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25032" y="2734056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подрядных организаций и машин: номерной знак, вместимость.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3593592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4088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3853282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" y="4251960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Гусаки связаны с зумпфами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04088" y="4544568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воды каждого гусака можно привязать к конкретному зумпфу — общий справочник с водоотливом.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23864" y="3593592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5032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841" y="3853282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25032" y="4251960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экспорт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25032" y="4544568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Тренд, разбивка по организациям и гусакам, экспорт в Excel (3 листа).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автоматические алерты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картина обстановки на одном экране — без ручного анализа таблиц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со спарклайнами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Суммарный дебит, число иссякающих точек, покрытие обхода — с динамикой к прошлому разу.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16882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8050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042770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8050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Автоматические алерты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18050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дебита &gt;30%, пропущенные точки, смена статуса, снижение суммарного дебита &gt;10%.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0845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2013" y="19659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2" y="2042770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2013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Роза направлений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32013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притока по 8 бортам объекта — наглядная секторная диаграмма.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4088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3853282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домен × статус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04088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Сводная таблица состояния точек по каждому геологическому домену.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16882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18050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853282"/>
            <a:ext cx="230429" cy="23042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18050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Тепловой календарь обходов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18050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последних обходов и мини-рейтинг сотрудников по полноте выполнения.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0845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2013" y="3776472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822" y="3853282"/>
            <a:ext cx="230429" cy="23042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2013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CSV / Excel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32013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точек и сводки в один клик для дальнейшей работы.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одним нажатием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из 5 шагов — от выбора периода до готового документа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6" name="Shape 4"/>
          <p:cNvSpPr/>
          <p:nvPr/>
        </p:nvSpPr>
        <p:spPr>
          <a:xfrm>
            <a:off x="1321582" y="235000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321582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 и объект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наблюдения, автор, дата составления; один срез или сравнение двух периодов.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79157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80325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12" name="Shape 10"/>
          <p:cNvSpPr/>
          <p:nvPr/>
        </p:nvSpPr>
        <p:spPr>
          <a:xfrm>
            <a:off x="3598987" y="235000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3598987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17485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17485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разделов с перестановкой drag-and-drop: карта, домены, водоотлив, скважины, канавы, фото, история.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56561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57729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18" name="Shape 16"/>
          <p:cNvSpPr/>
          <p:nvPr/>
        </p:nvSpPr>
        <p:spPr>
          <a:xfrm>
            <a:off x="5876392" y="235000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5876392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94889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Стиль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94889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макета, 5 цветовых тем, логотип, водяной знак (ДСП / Черновик / для заказчика).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3966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35134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24" name="Shape 22"/>
          <p:cNvSpPr/>
          <p:nvPr/>
        </p:nvSpPr>
        <p:spPr>
          <a:xfrm>
            <a:off x="8153796" y="235000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8153796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72294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ИИ-анализ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72294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формирует текстовые выводы строго по загруженным данным — банк готовых промптов по темам.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11371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12539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31201" y="235000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10431201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49699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749699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Автозахват карты и фото, сборка документа, шаблоны настроек и история версий отчёта.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89204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1A2F45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89204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работает только с уже отфильтрованными данными из базы — не может «придумать» цифры, только интерпретирует переданные показатели.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Администрирование и надёжность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Калибровка, роли доступа и контроль состояния системы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5623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73936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 схем по 2 точкам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95528" y="204825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схемы на каждую неделю, визуальная калибровка координат — без ручного пересчёта.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432304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легенды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270662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Цвета статусов, интенсивности и доменов применяются на карте сразу после сохранения.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7296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090672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пользователями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95528" y="336499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доступен только администратору — добавление, роли, безопасное удаление через защищённую функцию.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3133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74904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диагностики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5528" y="402336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сети, размер офлайн-очереди, время последней синхронизации, журнал последних ошибок — видно сразу, без обращения к разработчику.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828800"/>
            <a:ext cx="4373575" cy="4526280"/>
          </a:xfrm>
          <a:prstGeom prst="roundRect">
            <a:avLst>
              <a:gd name="adj" fmla="val 2091"/>
            </a:avLst>
          </a:prstGeom>
          <a:solidFill>
            <a:srgbClr val="132840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2029968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43800" y="2606040"/>
            <a:ext cx="391637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15с–10мин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543800" y="3693262"/>
            <a:ext cx="3916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настраиваемый интервал автосинхронизации + ручная кнопка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43800" y="4480560"/>
            <a:ext cx="391637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43800" y="5567782"/>
            <a:ext cx="3916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офлайн-очередь замеров автоматически докладывается при восстановлении сети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48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548640" y="3520440"/>
            <a:ext cx="118872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11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рисков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обращений по рискам, карта и отчёты для геологической и производственной служб предприятия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235440" y="2331720"/>
            <a:ext cx="2194560" cy="219456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92608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РИСКОВ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полевого обращения до отчёта руководству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6" name="Shape 4"/>
          <p:cNvSpPr/>
          <p:nvPr/>
        </p:nvSpPr>
        <p:spPr>
          <a:xfrm>
            <a:off x="1321582" y="2350008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1321582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QR-код на объекте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Полевой сотрудник сканирует QR и заполняет мобильную форму — простой сбор данных без бумаги.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79157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80325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12" name="Shape 10"/>
          <p:cNvSpPr/>
          <p:nvPr/>
        </p:nvSpPr>
        <p:spPr>
          <a:xfrm>
            <a:off x="3598987" y="2350008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598987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17485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+ GPS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17485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сохраняется с координатами и снимком — без бумаги и созвонов.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56561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57729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18" name="Shape 16"/>
          <p:cNvSpPr/>
          <p:nvPr/>
        </p:nvSpPr>
        <p:spPr>
          <a:xfrm>
            <a:off x="5876392" y="2350008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876392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94889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база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94889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попадает в общую базу данных, доступную административной панели.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3966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35134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24" name="Shape 22"/>
          <p:cNvSpPr/>
          <p:nvPr/>
        </p:nvSpPr>
        <p:spPr>
          <a:xfrm>
            <a:off x="8153796" y="2350008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8153796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72294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«Фиксация рисков»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72294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 видит обращение на карте и в журнале, назначает и закрывает работу.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11371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12539" y="2148840"/>
            <a:ext cx="2076237" cy="2468880"/>
          </a:xfrm>
          <a:prstGeom prst="roundRect">
            <a:avLst>
              <a:gd name="adj" fmla="val 3964"/>
            </a:avLst>
          </a:prstGeom>
          <a:solidFill>
            <a:srgbClr val="13284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31201" y="2350008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10431201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49699" y="2926080"/>
            <a:ext cx="18019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руководству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749699" y="3447288"/>
            <a:ext cx="180191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объектам, уровням опасности и просроченным критическим обращениям.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89204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1A2F45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89204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Мобильная форма для полевого сбора не меняется — административная панель только читает и обрабатывает уже поступающие данные.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РИСКОВ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обращений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обращения по рискам в одном месте — от регистрации до закрытия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с сортировкой, поиском и пагинацией по всем обращениям.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2688336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Двойной клик по строке — карточка с вкладками «Информация» и «Статус».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355848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3255264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обращения требует комментарий и фото результата.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922776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3822192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 опасности и «СТОП!»-метка — видно прямо в таблице.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489704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" y="4389120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 добавление обращения, если сигнал пришёл не через мобильную форму.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828800"/>
            <a:ext cx="6803136" cy="4526280"/>
          </a:xfrm>
          <a:prstGeom prst="roundRect">
            <a:avLst>
              <a:gd name="adj" fmla="val 1414"/>
            </a:avLst>
          </a:prstGeom>
          <a:solidFill>
            <a:srgbClr val="000000"/>
          </a:solidFill>
          <a:ln w="12700">
            <a:solidFill>
              <a:srgbClr val="2A3D5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46904" y="1924812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9784" y="1924812"/>
            <a:ext cx="82296" cy="8229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12664" y="192481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0" descr="/tmp/claude-0/-home-user-Monitoring-platform/1d8204e5-7a21-57d5-9045-789b9167f5dc/scratchpad/shots/g-jour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2103120"/>
            <a:ext cx="6803136" cy="425196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9226296" y="589788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08121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26296" y="5897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ПЛАТФОРМЫ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РИСКОВ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объектов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Обращения на схеме объекта — с той же геологией, что и в первом продукте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Домены и разломы — те же реальные координаты месторождения, что и в гидрогеологическом мониторинге.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2688336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Раскраска по статусу, уровню опасности или типу риска.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355848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3255264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Независимый фильтр видимости: все / открытые / закрытые.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922776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3822192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Переключатель недель — история объекта не теряется.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489704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" y="4389120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Охват: неограниченное число объектов предприятия.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828800"/>
            <a:ext cx="6803136" cy="4526280"/>
          </a:xfrm>
          <a:prstGeom prst="roundRect">
            <a:avLst>
              <a:gd name="adj" fmla="val 1414"/>
            </a:avLst>
          </a:prstGeom>
          <a:solidFill>
            <a:srgbClr val="000000"/>
          </a:solidFill>
          <a:ln w="12700">
            <a:solidFill>
              <a:srgbClr val="2A3D5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46904" y="1924812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9784" y="1924812"/>
            <a:ext cx="82296" cy="8229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12664" y="192481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0" descr="/tmp/claude-0/-home-user-Monitoring-platform/1d8204e5-7a21-57d5-9045-789b9167f5dc/scratchpad/shots/g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2103120"/>
            <a:ext cx="6803136" cy="425196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9226296" y="589788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08121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26296" y="5897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 ГЕОЛОГИЯ МЕСТОРОЖДЕНИЯ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РИСКОВ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Справочники и настройка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Гибкая модель данных без правок кода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6596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Названия объектов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справочник объектов предприятия для журнала, карты и отчётов.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16882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8050" y="196596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042770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8050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Зафиксированные риски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18050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типов риска — основа для каскадных индикаторов опасности.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0845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2013" y="196596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2" y="2042770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2013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Индикаторы и уровни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32013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Индикаторы опасности каскадно зависят от выбранного риска; уровни опасности — отдельный справочник.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4088" y="3776472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3853282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Схемы объектов по неделям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04088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PDF/изображения на каждую неделю отдельно, старые версии остаются в истории.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16882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18050" y="3776472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853282"/>
            <a:ext cx="230429" cy="23042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18050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калибровки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18050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координат новой недели подставляются с прошлой — калибровать заново не нужно.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0845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2013" y="3776472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822" y="3853282"/>
            <a:ext cx="230429" cy="23042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2013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цветов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32013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Цвета уровней, типов риска и линий разломов — правки применяются на карте сразу.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РИСКОВ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по рискам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объектам за период — по клику, без ручной сборки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и разбивки — по каждому выбранному объекту, за любой период.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2688336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Пресеты периода или произвольные даты «С» / «По».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355848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3255264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таблица «СТОП!» — просроченные критические обращения.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922776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3822192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карты на каждую неделю периода в отчёте.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489704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" y="4389120"/>
            <a:ext cx="3739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Печать / PDF — через диалог браузера, в один клик.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828800"/>
            <a:ext cx="6803136" cy="4526280"/>
          </a:xfrm>
          <a:prstGeom prst="roundRect">
            <a:avLst>
              <a:gd name="adj" fmla="val 1414"/>
            </a:avLst>
          </a:prstGeom>
          <a:solidFill>
            <a:srgbClr val="000000"/>
          </a:solidFill>
          <a:ln w="12700">
            <a:solidFill>
              <a:srgbClr val="2A3D5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46904" y="1924812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9784" y="1924812"/>
            <a:ext cx="82296" cy="8229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12664" y="192481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0" descr="/tmp/claude-0/-home-user-Monitoring-platform/1d8204e5-7a21-57d5-9045-789b9167f5dc/scratchpad/shots/g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2103120"/>
            <a:ext cx="6803136" cy="425196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9226296" y="589788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08121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26296" y="5897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СФОРМИРОВАННЫЙ ОТЧЁТ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РИСКОВ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Службы и диагностика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отвечает и как быстро находить проблему в самом интерфейсе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6596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441448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по риску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2734056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Настройка, какие e-mail получают письма по каждому типу риска и уровню опасности.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23864" y="1783080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5032" y="196596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41" y="2042770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25032" y="2441448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 ответственных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25032" y="2734056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 лиц, отвечающих за реагирование на объектах.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3593592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4088" y="3776472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3853282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" y="4251960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ошибок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04088" y="4544568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Появляется автоматически при сбое — не нужно открывать консоль разработчика.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23864" y="3593592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5032" y="3776472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841" y="3853282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25032" y="4251960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Диагностический снимок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25032" y="4544568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🩺 копирует JSON-снимок состояния для быстрой поддержки — вкладка, карта, счётчики, ошибки.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РИСКОВ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к продакшену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готова, контракт с боевой базой данных полностью специфицирован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56232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73936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Сейчас: протестированная модель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95528" y="204825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и логика полностью работают на демонстрационных данных — готова к приёмке заказчиком.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432304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контракт REST API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270662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набор эндпоинтов и SQL-схема новых таблиц — задокументированы для передачи в 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72968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090672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Мобильный сбор данных не меняется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95528" y="336499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подключается поверх уже работающего сбора данных (QR + форма → боевая база).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31336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74904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Переключение — один файл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5528" y="402336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Указать адрес API в конфигурации — остальной код панели менять не нужно.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828800"/>
            <a:ext cx="4373575" cy="4526280"/>
          </a:xfrm>
          <a:prstGeom prst="roundRect">
            <a:avLst>
              <a:gd name="adj" fmla="val 2091"/>
            </a:avLst>
          </a:prstGeom>
          <a:solidFill>
            <a:srgbClr val="132840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2029968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43800" y="2606040"/>
            <a:ext cx="391637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100%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543800" y="3693262"/>
            <a:ext cx="3916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и бизнес-логика полностью реализованы и протестированы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43800" y="4480560"/>
            <a:ext cx="391637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specified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43800" y="5567782"/>
            <a:ext cx="3916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с IT-отделом заказчика описан по каждому эндпоинту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ОБЪЕДИНЯЕТ ОБЕ ПЛАТФОРМЫ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база данных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 эпохи разрозненных файлов — один источник правды на продукт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65960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441448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Гидромониторинг: одна база на всё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2734056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Точки, скважины, канавы, водоотлив, пылеподавление и пользователи — в единой базе данных, а не в наборе несвязанных таблиц.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23864" y="1783080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5032" y="1965960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41" y="2042770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25032" y="2441448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рисков: контур заказчика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25032" y="2734056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Спроектирована под собственный SQL Server предприятия — обращения, справочники и схемы в одной корпоративной базе.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3593592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4088" y="3776472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3853282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" y="4251960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геологическая модель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04088" y="4544568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Координаты разломов и доменов месторождения используются в обоих продуктах без расхождений — общая геологическая модель объекта.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23864" y="3593592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5032" y="3776472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841" y="3853282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25032" y="4251960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одной записи «на бумаге»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25032" y="4544568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замер, обращение и фото — строка в базе с историей, а не файл, который можно потерять.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ОБЪЕДИНЯЕТ ОБЕ ПЛАТФОРМЫ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Автономность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Собственная разработка — без зависимости от дорогих иностранных решений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65960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441448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разработка, полный контроль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2734056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аренда стороннего ГГИС/мониторингового ПО — код и данные остаются у заказчика.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23864" y="1783080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5032" y="1965960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41" y="2042770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25032" y="2441448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как обычный сайт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25032" y="2734056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Статические приложения без сложной установки — разворачиваются на любом сервере или хостинге заказчика.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3593592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4088" y="3776472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3853282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" y="4251960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лицензий за пользователя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04088" y="4544568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Неограниченное число сотрудников может работать одновременно — никаких годовых лицензий на рабочее место.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23864" y="3593592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5032" y="3776472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841" y="3853282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25032" y="4251960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в поле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25032" y="4544568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координаты работают на уже загруженной схеме, офлайн-очередь замеров докладывается при восстановлении сети.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ОБЪЕДИНЯЕТ ОБЕ ПЛАТФОРМЫ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Удобство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кликов и меньше ручной работы на каждом шаге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65960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 по карте вместо ввода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Координаты подставляются автоматически при добавлении точки, канавы или обращения.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16882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18050" y="1965960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042770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8050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Автопересчёт единиц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18050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Л/с ↔ м³/ч, GPS ↔ местная система координат — везде, где нужен пересчёт.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0845" y="1783080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2013" y="1965960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2" y="2042770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2013" y="2441448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калибровки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32013" y="2734056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координат новой недели подставляются с прошлой — не нужно калибровать с нуля.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4088" y="3776472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3853282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промптов и шаблонов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04088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заготовки для ИИ-отчётов и настроек — сохраняются для повторного использования.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16882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18050" y="3776472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853282"/>
            <a:ext cx="230429" cy="23042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18050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разделов отчёта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18050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содержания отчёта настраивается перетаскиванием, а не правкой кода.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0845" y="3593592"/>
            <a:ext cx="3557930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2013" y="3776472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822" y="3853282"/>
            <a:ext cx="230429" cy="23042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2013" y="4251960"/>
            <a:ext cx="3155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язык между продуктами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32013" y="4544568"/>
            <a:ext cx="31555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логика фильтров, справочников и калибровки — переход между панелями интуитивен.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ОБЪЕДИНЯЕТ ОБЕ ПЛАТФОРМЫ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решение можно проверить и объяснить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65960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441448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история без перезаписи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2734056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замер и каждое обращение — новая запись; ничего не затирается предыдущей версией.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23864" y="1783080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5032" y="1965960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41" y="2042770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25032" y="2441448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работает только с проверенными данными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25032" y="2734056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отчёта строится из уже отфильтрованных показателей базы — не может «придумать» цифры.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3593592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4088" y="3776472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3853282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" y="4251960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Алгоритмические алерты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04088" y="4544568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отклонений заданы явно (&gt;30% роста, &gt;10% снижения) — не «чёрный ящик», а понятное правило.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23864" y="3593592"/>
            <a:ext cx="5464912" cy="1554480"/>
          </a:xfrm>
          <a:prstGeom prst="roundRect">
            <a:avLst>
              <a:gd name="adj" fmla="val 5294"/>
            </a:avLst>
          </a:prstGeom>
          <a:solidFill>
            <a:srgbClr val="132840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5032" y="3776472"/>
            <a:ext cx="384048" cy="384048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841" y="3853282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25032" y="4251960"/>
            <a:ext cx="506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без посредников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25032" y="4544568"/>
            <a:ext cx="506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 видит карту, отчёты и статистику напрямую, без ожидания ручного свода данных.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РАЗРАБОТКИ  ·  ПОРТФОЛИО ПЛАТФОРМ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21031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платформы.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источник правды.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379476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Гидрогеологический мониторинг уже работает в промышленной эксплуатации на реальном производственном объекте.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рисков — протестированная модель, готовая к подключению к боевой базе данных заказчика.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692640" y="4023360"/>
            <a:ext cx="1920240" cy="1920240"/>
          </a:xfrm>
          <a:prstGeom prst="ellipse">
            <a:avLst/>
          </a:prstGeom>
          <a:solidFill>
            <a:srgbClr val="F9C9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452628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 мониторинга и контроля рисков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2026-07-20T11:57:36Z</dcterms:created>
  <dcterms:modified xsi:type="dcterms:W3CDTF">2026-07-20T11:57:36Z</dcterms:modified>
</cp:coreProperties>
</file>