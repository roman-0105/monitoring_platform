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9C940"/>
                </a:solidFill>
              </a:rPr>
              <a:t>RG-Gold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CC"/>
                </a:solidFill>
              </a:rPr>
              <a:t>Гидрогеологическая служба · Карьер ЮРГ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7315200" cy="254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Цифровая платформа
мониторинга шахтных 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063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</a:rPr>
              <a:t>Автоматизация · Аналитика · ИИ-отчётность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611880"/>
            <a:ext cx="4114800" cy="502920"/>
          </a:xfrm>
          <a:prstGeom prst="rect">
            <a:avLst/>
          </a:prstGeom>
          <a:solidFill>
            <a:srgbClr val="1A2F45"/>
          </a:solidFill>
          <a:ln w="12700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63931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940"/>
                </a:solidFill>
              </a:rPr>
              <a:t>  РАЦИОНАЛИЗАТОРСКОЕ ПРЕДЛОЖЕНИЕ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Май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74320"/>
            <a:ext cx="4572000" cy="6309360"/>
          </a:xfrm>
          <a:prstGeom prst="rect">
            <a:avLst/>
          </a:prstGeom>
          <a:solidFill>
            <a:srgbClr val="0A1E32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[Скриншот: главный экран платформы]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Существующая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Как велась работа до внедрения платформы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577840" cy="548640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Бумажные журналы и ручной перенос данных в Excel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847088"/>
            <a:ext cx="5577840" cy="548640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385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Разрозненные файлы без единой базы данных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505456"/>
            <a:ext cx="5577840" cy="548640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9689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Ошибки при переписывании замеров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163824"/>
            <a:ext cx="5577840" cy="548640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25526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Часы на формирование отчётов вручную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822192"/>
            <a:ext cx="5577840" cy="548640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91363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Нет привязки точек к актуальной горной карте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480560"/>
            <a:ext cx="5577840" cy="548640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5720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Руководство не имеет оперативного доступа к данным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138928"/>
            <a:ext cx="5577840" cy="548640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2303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Нет инструмента контроля полноты обхода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88720"/>
            <a:ext cx="5897880" cy="457200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4335"/>
                </a:solidFill>
              </a:rPr>
              <a:t>ПОСЛЕДСТВИЯ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83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Низкая достоверность архивных данных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23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Риск принятия ошибочных технических решений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063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Задержка реагирования на изменение обстановки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703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Высокая зависимость от конкретного исполнителя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343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Отсутствие трендового анализа и прогноза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Решение: цифровая платформа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Единая среда для всего цикла гидрогеологического мониторинга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760720" cy="219456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64008" cy="219456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940"/>
                </a:solidFill>
              </a:rPr>
              <a:t>🗺  Карта мониторинга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83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Интерактивная карта · статусы точек в реальном времени · тепловая карта дебитов · прогресс обхода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760720" cy="219456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64008" cy="219456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940"/>
                </a:solidFill>
              </a:rPr>
              <a:t>📊  Аналитика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KPI-панель · тренды · алерты · матрица доменов · распределение по 8 бортам · горизонты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566160"/>
            <a:ext cx="5760720" cy="219456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566160"/>
            <a:ext cx="64008" cy="219456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940"/>
                </a:solidFill>
              </a:rPr>
              <a:t>🤖  ИИ-отчётность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160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Автоматическая генерация отчётов · настраиваемые промпты · захват карты · фото · Claude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760720" cy="219456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64008" cy="219456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940"/>
                </a:solidFill>
              </a:rPr>
              <a:t>⛏  Скважины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Учёт горизонтальных скважин · замеры дебита · рейтинг и тренды по неделям мониторинга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Интерактивная карта мониторинга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Визуализация всех точек с цветовыми статусами и прогрессом обхода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7772400" cy="5074920"/>
          </a:xfrm>
          <a:prstGeom prst="rect">
            <a:avLst/>
          </a:prstGeom>
          <a:solidFill>
            <a:srgbClr val="0A1E32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33604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8633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[Скриншот: карта с точками мониторинга]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234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BBCC"/>
                </a:solidFill>
              </a:rPr>
              <a:t>Статусы точек: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719072"/>
            <a:ext cx="228600" cy="2286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6459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Активная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221992"/>
            <a:ext cx="228600" cy="2286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1488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Паводковая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724912"/>
            <a:ext cx="228600" cy="2286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651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Иссякает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227832"/>
            <a:ext cx="228600" cy="228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15468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Пересохла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730752"/>
            <a:ext cx="228600" cy="22860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65760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Новая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● Тепловая карта дебитов
● Прогресс текущего обхода
● Фильтры: дата / домен / борт / горизонт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Аналитическая панель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Полная картина гидрогеологической обстановки в одном экране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7772400" cy="5074920"/>
          </a:xfrm>
          <a:prstGeom prst="rect">
            <a:avLst/>
          </a:prstGeom>
          <a:solidFill>
            <a:srgbClr val="0A1E32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33604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8633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[Скриншот: дашборд аналитики / KPI]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188720"/>
            <a:ext cx="3749039" cy="1280160"/>
          </a:xfrm>
          <a:prstGeom prst="rect">
            <a:avLst/>
          </a:prstGeom>
          <a:solidFill>
            <a:srgbClr val="162A40"/>
          </a:solidFill>
          <a:ln w="12700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940"/>
                </a:solidFill>
              </a:rPr>
              <a:t>KPI-панель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6459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Суммарный Q (точки + скв.), покрытие,
динамика к предыдущему периоду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587752"/>
            <a:ext cx="3749039" cy="1280160"/>
          </a:xfrm>
          <a:prstGeom prst="rect">
            <a:avLst/>
          </a:prstGeom>
          <a:solidFill>
            <a:srgbClr val="162A4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67919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</a:rPr>
              <a:t>Тренд дебита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04495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График за 12 обходов
с плавными кривыми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986784"/>
            <a:ext cx="3749039" cy="1280160"/>
          </a:xfrm>
          <a:prstGeom prst="rect">
            <a:avLst/>
          </a:prstGeom>
          <a:solidFill>
            <a:srgbClr val="162A4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0782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Алерты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443984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Автовыявление аномалий:
рост Q, пропуски, смена статуса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5385816"/>
            <a:ext cx="3749039" cy="1280160"/>
          </a:xfrm>
          <a:prstGeom prst="rect">
            <a:avLst/>
          </a:prstGeom>
          <a:solidFill>
            <a:srgbClr val="162A40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54772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4335"/>
                </a:solidFill>
              </a:rPr>
              <a:t>Распределение бортов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843016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8 направлений карьера
с вкладом каждого борта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ИИ-генерация отчётов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Профессиональный гидрогеологический отчёт — одним нажатием кнопки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9902952" y="182880"/>
            <a:ext cx="2011680" cy="457200"/>
          </a:xfrm>
          <a:prstGeom prst="rect">
            <a:avLst/>
          </a:prstGeom>
          <a:solidFill>
            <a:srgbClr val="1A2F45"/>
          </a:solidFill>
          <a:ln w="9525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2952" y="201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9C940"/>
                </a:solidFill>
              </a:rPr>
              <a:t>Claude AI (Anthropic)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2194560" cy="1737360"/>
          </a:xfrm>
          <a:prstGeom prst="rect">
            <a:avLst/>
          </a:prstGeom>
          <a:solidFill>
            <a:srgbClr val="162A40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8A6FF"/>
                </a:solidFill>
              </a:rPr>
              <a:t>① 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5564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Замеры, статусы, Q по точкам, горизонтам, доменам, бортам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17830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9464" y="1188720"/>
            <a:ext cx="2194560" cy="1737360"/>
          </a:xfrm>
          <a:prstGeom prst="rect">
            <a:avLst/>
          </a:prstGeom>
          <a:solidFill>
            <a:srgbClr val="162A40"/>
          </a:solidFill>
          <a:ln w="19050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0904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C940"/>
                </a:solidFill>
              </a:rPr>
              <a:t>② Карта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75564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Автоматический захват схемы карьера за выбранную неделю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7830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0328" y="1188720"/>
            <a:ext cx="2194560" cy="1737360"/>
          </a:xfrm>
          <a:prstGeom prst="rect">
            <a:avLst/>
          </a:prstGeom>
          <a:solidFill>
            <a:srgbClr val="162A40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1768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FB950"/>
                </a:solidFill>
              </a:rPr>
              <a:t>③ Фото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8" y="175564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Фотофиксация точек из облачного хранилища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6" y="17830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51192" y="1188720"/>
            <a:ext cx="2194560" cy="1737360"/>
          </a:xfrm>
          <a:prstGeom prst="rect">
            <a:avLst/>
          </a:prstGeom>
          <a:solidFill>
            <a:srgbClr val="162A40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C8CFF"/>
                </a:solidFill>
              </a:rPr>
              <a:t>④ ИИ-анализ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2632" y="175564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Claude AI генерирует профессиональный вывод по вашему промпту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7830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ABBCC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1188720"/>
            <a:ext cx="2194560" cy="1737360"/>
          </a:xfrm>
          <a:prstGeom prst="rect">
            <a:avLst/>
          </a:prstGeom>
          <a:solidFill>
            <a:srgbClr val="162A40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3496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4335"/>
                </a:solidFill>
              </a:rPr>
              <a:t>⑤ Отчёт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3496" y="175564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Готовый структурированный документ к печати и рассылке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108960"/>
            <a:ext cx="11731752" cy="457200"/>
          </a:xfrm>
          <a:prstGeom prst="rect">
            <a:avLst/>
          </a:prstGeom>
          <a:solidFill>
            <a:srgbClr val="1A2F45"/>
          </a:solidFill>
          <a:ln w="9525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1455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C940"/>
                </a:solidFill>
              </a:rPr>
              <a:t>🗒  БАНК ПРОМПТОВ: специалисты сами составляют инструкции для ИИ и сохраняют их для повторного использования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703320"/>
            <a:ext cx="2194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794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8A6FF"/>
                </a:solidFill>
              </a:rPr>
              <a:t>Стандартный:
обстановка + риски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9464" y="3703320"/>
            <a:ext cx="2194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60904" y="3794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4335"/>
                </a:solidFill>
              </a:rPr>
              <a:t>Паводковый
анализ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0328" y="3703320"/>
            <a:ext cx="2194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1768" y="3794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FB950"/>
                </a:solidFill>
              </a:rPr>
              <a:t>Краткая сводка
для руководства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51192" y="3703320"/>
            <a:ext cx="2194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42632" y="3794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9C940"/>
                </a:solidFill>
              </a:rPr>
              <a:t>Сравнительный
анализ периодов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92056" y="3703320"/>
            <a:ext cx="2194560" cy="1051560"/>
          </a:xfrm>
          <a:prstGeom prst="rect">
            <a:avLst/>
          </a:prstGeom>
          <a:solidFill>
            <a:srgbClr val="162A40"/>
          </a:solidFill>
          <a:ln w="9525">
            <a:solidFill>
              <a:srgbClr val="AA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83496" y="379476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+ Создать
свой промпт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892040"/>
            <a:ext cx="11731752" cy="1325880"/>
          </a:xfrm>
          <a:prstGeom prst="rect">
            <a:avLst/>
          </a:prstGeom>
          <a:solidFill>
            <a:srgbClr val="0A1E32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5234940"/>
            <a:ext cx="1173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5737860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[Скриншот: интерфейс формирования отчёта / банк промптов]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Модуль «Скважины»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Учёт горизонтальных дренажных скважин с аналитикой по неделям мониторинга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7132320" cy="5074920"/>
          </a:xfrm>
          <a:prstGeom prst="rect">
            <a:avLst/>
          </a:prstGeom>
          <a:solidFill>
            <a:srgbClr val="0A1E32"/>
          </a:solidFill>
          <a:ln w="1270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33604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8633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[Скриншот: раздел скважин]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188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940"/>
                </a:solidFill>
              </a:rPr>
              <a:t>Учётные 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Глубина, азимут, угол наклона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Горизонт и борт расположения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231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История замеров дебита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834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Статус: Активная / Иссякает / Сухая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Аналитика скважин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794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KPI за выбранную неделю мониторинга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Рейтинг по суммарному дебиту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617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Тренды за всю историю (графики)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Автозагрузка при открытии аналитики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Цифровизация гидрогеологии · ИИ-стратегия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От бумажных журналов к цифровому двойнику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2240280" cy="2743200"/>
          </a:xfrm>
          <a:prstGeom prst="rect">
            <a:avLst/>
          </a:prstGeom>
          <a:solidFill>
            <a:srgbClr val="162A40"/>
          </a:solidFill>
          <a:ln w="9525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A4335"/>
                </a:solidFill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01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2024–2025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A4335"/>
                </a:solidFill>
              </a:rPr>
              <a:t>Бумажный учёт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24912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Excel, журналы, ручная отчётность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78608" y="1188720"/>
            <a:ext cx="2240280" cy="3108960"/>
          </a:xfrm>
          <a:prstGeom prst="rect">
            <a:avLst/>
          </a:prstGeom>
          <a:solidFill>
            <a:srgbClr val="10283A"/>
          </a:solidFill>
          <a:ln w="317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1280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FB950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171907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ABBCC"/>
                </a:solidFill>
              </a:rPr>
              <a:t>2026
СЕГОДНЯ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2103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FB950"/>
                </a:solidFill>
              </a:rPr>
              <a:t>Цифровая платформа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542032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БД · карта · аналитика · ИИ-отчёты · карьер ЮРГ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28616" y="1371600"/>
            <a:ext cx="2240280" cy="2743200"/>
          </a:xfrm>
          <a:prstGeom prst="rect">
            <a:avLst/>
          </a:prstGeom>
          <a:solidFill>
            <a:srgbClr val="162A40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6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1901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0056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8A6FF"/>
                </a:solidFill>
              </a:rPr>
              <a:t>Расширение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6" y="2724912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Подключение карьера СРГ · мобильное приложение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78624" y="1371600"/>
            <a:ext cx="2240280" cy="2743200"/>
          </a:xfrm>
          <a:prstGeom prst="rect">
            <a:avLst/>
          </a:prstGeom>
          <a:solidFill>
            <a:srgbClr val="162A40"/>
          </a:solidFill>
          <a:ln w="9525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9C940"/>
                </a:solidFill>
              </a:rPr>
              <a:t>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1901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C940"/>
                </a:solidFill>
              </a:rPr>
              <a:t>IoT + 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0064" y="2724912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Датчики расхода · прогнозирование притоков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8632" y="1371600"/>
            <a:ext cx="2240280" cy="2743200"/>
          </a:xfrm>
          <a:prstGeom prst="rect">
            <a:avLst/>
          </a:prstGeom>
          <a:solidFill>
            <a:srgbClr val="162A40"/>
          </a:solidFill>
          <a:ln w="9525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C8CFF"/>
                </a:solidFill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19019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BBCC"/>
                </a:solidFill>
              </a:rPr>
              <a:t>2028+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22860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C8CFF"/>
                </a:solidFill>
              </a:rPr>
              <a:t>Цифровой двойник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2724912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Все активы RG-Gold · автоматические оповещения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470916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940"/>
                </a:solidFill>
              </a:rPr>
              <a:t>▸ Первое промышленное применение ИИ в гидрогеологической службе RG-Gold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512064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Платформа — стратегическая инфраструктура: накопленная база данных становится фундаментом для ML-моделей прогнозирования притоков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Экономическое обоснование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Сравнение с коммерческими аналогами на мировом рынке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411480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216152"/>
            <a:ext cx="3977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C940"/>
                </a:solidFill>
              </a:rPr>
              <a:t>Решение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143000"/>
            <a:ext cx="411480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3984" y="1216152"/>
            <a:ext cx="3977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C940"/>
                </a:solidFill>
              </a:rPr>
              <a:t>Назначение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22208" y="1143000"/>
            <a:ext cx="3200400" cy="384048"/>
          </a:xfrm>
          <a:prstGeom prst="rect">
            <a:avLst/>
          </a:prstGeom>
          <a:solidFill>
            <a:srgbClr val="0D1B2A"/>
          </a:solidFill>
          <a:ln w="635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216152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C940"/>
                </a:solidFill>
              </a:rPr>
              <a:t>Стоимость / год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527048"/>
            <a:ext cx="41148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" y="1581912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Leapfrog Works (Seequent/Bentley)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1527048"/>
            <a:ext cx="41148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1581912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3D гидрогеол. моделирование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1527048"/>
            <a:ext cx="32004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58191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$2 845 / польз.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1911096"/>
            <a:ext cx="41148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" y="1965960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GoldSim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1911096"/>
            <a:ext cx="41148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1965960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Водный баланс шахты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22208" y="1911096"/>
            <a:ext cx="32004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965960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$3 000–8 000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295144"/>
            <a:ext cx="41148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" y="2350008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AQUARIUS (Aquatic Informatics)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2295144"/>
            <a:ext cx="41148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3984" y="2350008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Мониторинг водных данных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22208" y="2295144"/>
            <a:ext cx="32004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235000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$20 000–80 000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679192"/>
            <a:ext cx="41148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" y="2734056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FEFLOW (DHI Group)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70832" y="2679192"/>
            <a:ext cx="41148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43984" y="2734056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Моделирование подземных вод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22208" y="2679192"/>
            <a:ext cx="32004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2734056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€5 000–25 000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063240"/>
            <a:ext cx="41148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" y="3118104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Deswik / Datamine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0832" y="3063240"/>
            <a:ext cx="41148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43984" y="3118104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Корп. ГГИС с водным модулем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3063240"/>
            <a:ext cx="3200400" cy="384048"/>
          </a:xfrm>
          <a:prstGeom prst="rect">
            <a:avLst/>
          </a:prstGeom>
          <a:solidFill>
            <a:srgbClr val="142436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3118104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$15 000–250 000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447288"/>
            <a:ext cx="41148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" y="3502152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Внешняя разработка под заказ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0832" y="3447288"/>
            <a:ext cx="41148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43984" y="3502152"/>
            <a:ext cx="3977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Аналог платформы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2208" y="3447288"/>
            <a:ext cx="3200400" cy="384048"/>
          </a:xfrm>
          <a:prstGeom prst="rect">
            <a:avLst/>
          </a:prstGeom>
          <a:solidFill>
            <a:srgbClr val="162A40"/>
          </a:solidFill>
          <a:ln w="3810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0" y="350215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$150 000–400 000 (разово)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3831336"/>
            <a:ext cx="4114800" cy="429768"/>
          </a:xfrm>
          <a:prstGeom prst="rect">
            <a:avLst/>
          </a:prstGeom>
          <a:solidFill>
            <a:srgbClr val="1A351A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" y="3904488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✓ Платформа RG-Gold (собственная)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70832" y="3831336"/>
            <a:ext cx="4114800" cy="429768"/>
          </a:xfrm>
          <a:prstGeom prst="rect">
            <a:avLst/>
          </a:prstGeom>
          <a:solidFill>
            <a:srgbClr val="1A351A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3984" y="3904488"/>
            <a:ext cx="3977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Весь перечисленный функционал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22208" y="3831336"/>
            <a:ext cx="3200400" cy="429768"/>
          </a:xfrm>
          <a:prstGeom prst="rect">
            <a:avLst/>
          </a:prstGeom>
          <a:solidFill>
            <a:srgbClr val="1A351A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390448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~$300–500 / год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074920"/>
            <a:ext cx="2834640" cy="114300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ЭКОНОМИЯ VS AQUARIUS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5422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</a:rPr>
              <a:t>97–99%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5824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~$79 500 / год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5074920"/>
            <a:ext cx="2834640" cy="114300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756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ЭКОНОМИЯ ЗА 3 ГОДА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7560" y="5422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C940"/>
                </a:solidFill>
              </a:rPr>
              <a:t>$58K–240K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7560" y="5824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прямая экономия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5074920"/>
            <a:ext cx="2834640" cy="114300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ЛИЦЕНЗИЙ СТОРОННИХ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5422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$0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824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полный суверенитет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5074920"/>
            <a:ext cx="2834640" cy="1143000"/>
          </a:xfrm>
          <a:prstGeom prst="rect">
            <a:avLst/>
          </a:prstGeom>
          <a:solidFill>
            <a:srgbClr val="162A40"/>
          </a:solidFill>
          <a:ln w="9525">
            <a:solidFill>
              <a:srgbClr val="2A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ДОПЛАТА ЗА ПОЛЬЗ.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81160" y="54223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C8CFF"/>
                </a:solidFill>
              </a:rPr>
              <a:t>$0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60" y="5824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неограниченный доступ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Качество данных и исключение ошибок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Системное устранение всех источников погрешностей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5669280" cy="576072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80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Ошибки переписывания замеров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3872" y="12984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669280" cy="576072"/>
          </a:xfrm>
          <a:prstGeom prst="rect">
            <a:avLst/>
          </a:prstGeom>
          <a:solidFill>
            <a:srgbClr val="0E1F14"/>
          </a:solidFill>
          <a:ln w="6350">
            <a:solidFill>
              <a:srgbClr val="206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8" y="1280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FFAA"/>
                </a:solidFill>
              </a:rPr>
              <a:t>✓  Данные вносятся один раз — напрямую в БД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856232"/>
            <a:ext cx="5669280" cy="576072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9476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Путаница в нумерации точек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1965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56232"/>
            <a:ext cx="5669280" cy="576072"/>
          </a:xfrm>
          <a:prstGeom prst="rect">
            <a:avLst/>
          </a:prstGeom>
          <a:solidFill>
            <a:srgbClr val="0E1F14"/>
          </a:solidFill>
          <a:ln w="6350">
            <a:solidFill>
              <a:srgbClr val="206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476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FFAA"/>
                </a:solidFill>
              </a:rPr>
              <a:t>✓  Точка выбирается кликом на интерактивной карте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523744"/>
            <a:ext cx="5669280" cy="576072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61518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Утеря бумажного журнала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6334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523744"/>
            <a:ext cx="5669280" cy="576072"/>
          </a:xfrm>
          <a:prstGeom prst="rect">
            <a:avLst/>
          </a:prstGeom>
          <a:solidFill>
            <a:srgbClr val="0E1F14"/>
          </a:solidFill>
          <a:ln w="6350">
            <a:solidFill>
              <a:srgbClr val="206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6208" y="261518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FFAA"/>
                </a:solidFill>
              </a:rPr>
              <a:t>✓  Все данные в защищённой облачной БД, резервное копирование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191256"/>
            <a:ext cx="5669280" cy="576072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32826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Несогласованность единиц (л/с ↔ м³/ч)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330098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191256"/>
            <a:ext cx="5669280" cy="576072"/>
          </a:xfrm>
          <a:prstGeom prst="rect">
            <a:avLst/>
          </a:prstGeom>
          <a:solidFill>
            <a:srgbClr val="0E1F14"/>
          </a:solidFill>
          <a:ln w="6350">
            <a:solidFill>
              <a:srgbClr val="206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2826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FFAA"/>
                </a:solidFill>
              </a:rPr>
              <a:t>✓  Автоматический пересчёт при внесении замера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858768"/>
            <a:ext cx="5669280" cy="576072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3950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Задержка передачи данных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3872" y="396849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858768"/>
            <a:ext cx="5669280" cy="576072"/>
          </a:xfrm>
          <a:prstGeom prst="rect">
            <a:avLst/>
          </a:prstGeom>
          <a:solidFill>
            <a:srgbClr val="0E1F14"/>
          </a:solidFill>
          <a:ln w="6350">
            <a:solidFill>
              <a:srgbClr val="206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3950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FFAA"/>
                </a:solidFill>
              </a:rPr>
              <a:t>✓  Данные доступны мгновенно при внесении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526280"/>
            <a:ext cx="5669280" cy="576072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4617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Нет контроля полноты обхода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3872" y="463600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526280"/>
            <a:ext cx="5669280" cy="576072"/>
          </a:xfrm>
          <a:prstGeom prst="rect">
            <a:avLst/>
          </a:prstGeom>
          <a:solidFill>
            <a:srgbClr val="0E1F14"/>
          </a:solidFill>
          <a:ln w="6350">
            <a:solidFill>
              <a:srgbClr val="206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4617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FFAA"/>
                </a:solidFill>
              </a:rPr>
              <a:t>✓  Прогресс-бар + цветовая индикация на карте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193792"/>
            <a:ext cx="5669280" cy="576072"/>
          </a:xfrm>
          <a:prstGeom prst="rect">
            <a:avLst/>
          </a:prstGeom>
          <a:solidFill>
            <a:srgbClr val="1E1414"/>
          </a:solidFill>
          <a:ln w="6350">
            <a:solidFill>
              <a:srgbClr val="6A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" y="52852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9999"/>
                </a:solidFill>
              </a:rPr>
              <a:t>✗  Несоответствие текста отчёта цифрам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33872" y="5303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5193792"/>
            <a:ext cx="5669280" cy="576072"/>
          </a:xfrm>
          <a:prstGeom prst="rect">
            <a:avLst/>
          </a:prstGeom>
          <a:solidFill>
            <a:srgbClr val="0E1F14"/>
          </a:solidFill>
          <a:ln w="6350">
            <a:solidFill>
              <a:srgbClr val="206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52852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FFAA"/>
                </a:solidFill>
              </a:rPr>
              <a:t>✓  ИИ использует только верифицированные данные из БД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Перспективы развития платформы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Сегодня — ЮРГ. Завтра — все активы RG-Gold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3657600" cy="5074920"/>
          </a:xfrm>
          <a:prstGeom prst="rect">
            <a:avLst/>
          </a:prstGeom>
          <a:solidFill>
            <a:srgbClr val="162A40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✓  СЕЙЧАС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Карьер ЮРГ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Карта мониторинга с тепловой картой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Точки интереса + замеры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Горизонтальные скважины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Аналитическая панель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14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ИИ-отчётность (Claude API)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Экспорт CSV / Excel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188720"/>
            <a:ext cx="7845552" cy="1682495"/>
          </a:xfrm>
          <a:prstGeom prst="rect">
            <a:avLst/>
          </a:prstGeom>
          <a:solidFill>
            <a:srgbClr val="162A4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26187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2026 — Расширение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162763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Подключение карьера СРГ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029968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Мобильное приложение (офлайн)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43230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Фотофиксация с маршрута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008375"/>
            <a:ext cx="7845552" cy="2121408"/>
          </a:xfrm>
          <a:prstGeom prst="rect">
            <a:avLst/>
          </a:prstGeom>
          <a:solidFill>
            <a:srgbClr val="162A40"/>
          </a:solidFill>
          <a:ln w="12700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081527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940"/>
                </a:solidFill>
              </a:rPr>
              <a:t>2026–2027 — Интеграция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447287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IoT-датчики расхода воды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849623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Данные осадков и сезонность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251959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ML-прогнозирование притоков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654295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Интеграция с ГГИС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5266943"/>
            <a:ext cx="7845552" cy="1682495"/>
          </a:xfrm>
          <a:prstGeom prst="rect">
            <a:avLst/>
          </a:prstGeom>
          <a:solidFill>
            <a:srgbClr val="162A40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0" y="5340095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2028+ — Масштабирование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5705855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Все активы RG-Gold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6108191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Цифровой двойник карьера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6510527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▸  Авто-оповещения при превышении порогов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65392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RG-Gold · Платформа мониторинга шахтных вод · Карьер ЮРГ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Итоги и рекомендации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1274552" cy="12700"/>
          </a:xfrm>
          <a:prstGeom prst="rect">
            <a:avLst/>
          </a:prstGeom>
          <a:solidFill>
            <a:srgbClr val="2A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11731752" cy="914400"/>
          </a:xfrm>
          <a:prstGeom prst="rect">
            <a:avLst/>
          </a:prstGeom>
          <a:solidFill>
            <a:srgbClr val="162A4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54864" cy="9144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332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✓  Работает в промышленной эксплуатации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356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Платформа введена в работу для карьера ЮРГ и используется специалистами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984248"/>
            <a:ext cx="11731752" cy="914400"/>
          </a:xfrm>
          <a:prstGeom prst="rect">
            <a:avLst/>
          </a:prstGeom>
          <a:solidFill>
            <a:srgbClr val="162A4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984248"/>
            <a:ext cx="54864" cy="914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057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✓  Первое ИИ-применение в гидрогеологии компании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5973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Автоматическая генерация профессиональных отчётов через Claude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008376"/>
            <a:ext cx="11731752" cy="914400"/>
          </a:xfrm>
          <a:prstGeom prst="rect">
            <a:avLst/>
          </a:prstGeom>
          <a:solidFill>
            <a:srgbClr val="162A40"/>
          </a:solidFill>
          <a:ln w="12700">
            <a:solidFill>
              <a:srgbClr val="F9C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3008376"/>
            <a:ext cx="54864" cy="914400"/>
          </a:xfrm>
          <a:prstGeom prst="rect">
            <a:avLst/>
          </a:prstGeom>
          <a:solidFill>
            <a:srgbClr val="F9C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0815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940"/>
                </a:solidFill>
              </a:rPr>
              <a:t>✓  Экономия до $80 000 / год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48386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Относительно ближайшего коммерческого аналога (AQUARIUS)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032504"/>
            <a:ext cx="11731752" cy="914400"/>
          </a:xfrm>
          <a:prstGeom prst="rect">
            <a:avLst/>
          </a:prstGeom>
          <a:solidFill>
            <a:srgbClr val="162A40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4032504"/>
            <a:ext cx="54864" cy="9144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10565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C8CFF"/>
                </a:solidFill>
              </a:rPr>
              <a:t>✓  Суверенитет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507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Собственная инфраструктура · нет зависимости от иностранных вендоров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056632"/>
            <a:ext cx="11731752" cy="914400"/>
          </a:xfrm>
          <a:prstGeom prst="rect">
            <a:avLst/>
          </a:prstGeom>
          <a:solidFill>
            <a:srgbClr val="162A40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5056632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12978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4335"/>
                </a:solidFill>
              </a:rPr>
              <a:t>✓  Масштабируемость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Подключение карьера СРГ без доп. затрат · неограниченное количество пользователей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6172200"/>
            <a:ext cx="11731752" cy="457200"/>
          </a:xfrm>
          <a:prstGeom prst="rect">
            <a:avLst/>
          </a:prstGeom>
          <a:solidFill>
            <a:srgbClr val="1A351A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2179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</a:rPr>
              <a:t>  Предложение рекомендуется к официальному признанию и тиражированию на все активы компании RG-Gold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